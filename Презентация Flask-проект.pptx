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  <a:endParaRPr kumimoji="0" lang="ru-RU" smtClean="0"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  <a:endParaRPr kumimoji="0" lang="ru-RU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  <a:endParaRPr kumimoji="0" lang="ru-RU" smtClean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  <a:endParaRPr kumimoji="0" lang="ru-RU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735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745"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  <a:endParaRPr kumimoji="0" lang="ru-RU" smtClean="0"/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  <a:endParaRPr lang="ru-RU" smtClean="0"/>
          </a:p>
          <a:p>
            <a:pPr lvl="1" eaLnBrk="1" latinLnBrk="0" hangingPunct="1"/>
            <a:r>
              <a:rPr lang="ru-RU" smtClean="0"/>
              <a:t>Второй уровень</a:t>
            </a:r>
            <a:endParaRPr lang="ru-RU" smtClean="0"/>
          </a:p>
          <a:p>
            <a:pPr lvl="2" eaLnBrk="1" latinLnBrk="0" hangingPunct="1"/>
            <a:r>
              <a:rPr lang="ru-RU" smtClean="0"/>
              <a:t>Третий уровень</a:t>
            </a:r>
            <a:endParaRPr lang="ru-RU" smtClean="0"/>
          </a:p>
          <a:p>
            <a:pPr lvl="3" eaLnBrk="1" latinLnBrk="0" hangingPunct="1"/>
            <a:r>
              <a:rPr lang="ru-RU" smtClean="0"/>
              <a:t>Четвертый уровень</a:t>
            </a:r>
            <a:endParaRPr lang="ru-RU" smtClean="0"/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94C9-0804-4828-8E98-44D25C99D1C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fld id="{B6E4F48D-665D-4BD0-98A6-FE1D78312AE2}" type="datetimeFigureOut">
              <a:rPr lang="ru-RU" smtClean="0"/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</a:lstStyle>
          <a:p>
            <a:fld id="{3BCB94C9-0804-4828-8E98-44D25C99D1C4}" type="slidenum">
              <a:rPr lang="ru-RU" smtClean="0"/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  <a:endParaRPr kumimoji="0" lang="ru-RU" smtClean="0"/>
          </a:p>
          <a:p>
            <a:pPr lvl="1" eaLnBrk="1" latinLnBrk="0" hangingPunct="1"/>
            <a:r>
              <a:rPr kumimoji="0" lang="ru-RU" smtClean="0"/>
              <a:t>Второй уровень</a:t>
            </a:r>
            <a:endParaRPr kumimoji="0" lang="ru-RU" smtClean="0"/>
          </a:p>
          <a:p>
            <a:pPr lvl="2" eaLnBrk="1" latinLnBrk="0" hangingPunct="1"/>
            <a:r>
              <a:rPr kumimoji="0" lang="ru-RU" smtClean="0"/>
              <a:t>Третий уровень</a:t>
            </a:r>
            <a:endParaRPr kumimoji="0" lang="ru-RU" smtClean="0"/>
          </a:p>
          <a:p>
            <a:pPr lvl="3" eaLnBrk="1" latinLnBrk="0" hangingPunct="1"/>
            <a:r>
              <a:rPr kumimoji="0" lang="ru-RU" smtClean="0"/>
              <a:t>Четвертый уровень</a:t>
            </a:r>
            <a:endParaRPr kumimoji="0" lang="ru-RU" smtClean="0"/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54610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 panose="05020102010507070707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177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00034" y="285728"/>
            <a:ext cx="8229600" cy="228601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Flask-</a:t>
            </a:r>
            <a:r>
              <a:rPr lang="ru-RU" sz="6000" dirty="0" smtClean="0"/>
              <a:t>проект</a:t>
            </a:r>
            <a:r>
              <a:rPr lang="ru-RU" sz="6000" dirty="0" smtClean="0"/>
              <a:t>:</a:t>
            </a:r>
            <a:br>
              <a:rPr lang="en-US" sz="6000" dirty="0" smtClean="0"/>
            </a:br>
            <a:r>
              <a:rPr lang="en-US" sz="6000" dirty="0" smtClean="0"/>
              <a:t>“</a:t>
            </a:r>
            <a:r>
              <a:rPr lang="ru-RU" sz="6000" dirty="0" smtClean="0"/>
              <a:t>Приятный досуг</a:t>
            </a:r>
            <a:r>
              <a:rPr lang="en-US" sz="6000" dirty="0" smtClean="0"/>
              <a:t>” 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2405" y="2928620"/>
            <a:ext cx="9594215" cy="3752850"/>
          </a:xfrm>
        </p:spPr>
        <p:txBody>
          <a:bodyPr/>
          <a:lstStyle/>
          <a:p>
            <a:pPr algn="l"/>
            <a:r>
              <a:rPr lang="ru-RU" sz="4000" dirty="0" smtClean="0"/>
              <a:t>Создавала</a:t>
            </a:r>
            <a:endParaRPr lang="ru-RU" sz="4000" dirty="0" smtClean="0"/>
          </a:p>
          <a:p>
            <a:pPr algn="l"/>
            <a:r>
              <a:rPr lang="ru-RU" sz="4000" dirty="0" smtClean="0"/>
              <a:t>Феткуллова </a:t>
            </a:r>
            <a:r>
              <a:rPr lang="ru-RU" sz="4000" dirty="0" smtClean="0"/>
              <a:t>Алина</a:t>
            </a:r>
            <a:r>
              <a:rPr lang="ru-RU" sz="4000" dirty="0" smtClean="0"/>
              <a:t> </a:t>
            </a:r>
            <a:r>
              <a:rPr lang="ru-RU" sz="4000" dirty="0" smtClean="0"/>
              <a:t>Ренатовна</a:t>
            </a:r>
            <a:endParaRPr lang="ru-RU" sz="4000" dirty="0" smtClean="0"/>
          </a:p>
          <a:p>
            <a:pPr algn="l"/>
            <a:r>
              <a:rPr lang="en-US" altLang="ru-RU" sz="2800" i="1" dirty="0" smtClean="0"/>
              <a:t>GitHub: https://github.com/Hikypok/Flask-project</a:t>
            </a:r>
            <a:endParaRPr lang="en-US" altLang="ru-RU" sz="2800" dirty="0" smtClean="0"/>
          </a:p>
          <a:p>
            <a:pPr algn="l"/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09</a:t>
            </a:r>
            <a:r>
              <a:rPr lang="en-US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.04.26 – 04.05.26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6000" dirty="0" smtClean="0"/>
              <a:t>Содержание</a:t>
            </a:r>
            <a:endParaRPr lang="ru-RU" sz="6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4505" y="1428750"/>
            <a:ext cx="8357870" cy="5139690"/>
          </a:xfrm>
        </p:spPr>
        <p:txBody>
          <a:bodyPr>
            <a:normAutofit fontScale="90000"/>
          </a:bodyPr>
          <a:lstStyle/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1) О проекте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2) Проблематика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3) Основной функционал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4) </a:t>
            </a:r>
            <a:r>
              <a:rPr lang="en-US" alt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Технологический</a:t>
            </a:r>
            <a:r>
              <a:rPr lang="en-US" alt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стек</a:t>
            </a:r>
            <a:endParaRPr lang="en-US" altLang="en-US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5) </a:t>
            </a:r>
            <a:r>
              <a:rPr lang="en-US" altLang="en-US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Архитектура</a:t>
            </a:r>
            <a:r>
              <a:rPr lang="en-US" alt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проекта</a:t>
            </a:r>
            <a:endParaRPr lang="en-US" altLang="en-US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6) База данных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7) Ключевые особенности реализации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8) Демонстрация интерфейса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indent="-742950">
              <a:buNone/>
            </a:pPr>
            <a:r>
              <a:rPr lang="ru-RU" sz="4000" dirty="0" smtClean="0">
                <a:latin typeface="Cambria" panose="02040503050406030204" pitchFamily="18" charset="0"/>
                <a:ea typeface="Cambria" panose="02040503050406030204" pitchFamily="18" charset="0"/>
              </a:rPr>
              <a:t>9) Заключение</a:t>
            </a:r>
            <a:endParaRPr lang="ru-RU" sz="4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6000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О проекте</a:t>
            </a:r>
            <a:endParaRPr lang="ru-RU" sz="6000" dirty="0" smtClean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705" y="1349375"/>
            <a:ext cx="9262110" cy="5879465"/>
          </a:xfrm>
        </p:spPr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ru-RU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1) </a:t>
            </a:r>
            <a:r>
              <a:rPr lang="en-US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Описание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5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Современная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веб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платформа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где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пользователи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могут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Делиться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впечатлениями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прочитанных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книгах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Оставлять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отзывы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просмотренных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фильмах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Рекомендовать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интересные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места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посещения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ru-RU" altLang="en-US" sz="5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2) </a:t>
            </a:r>
            <a:r>
              <a:rPr lang="en-US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Цель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проекта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5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457200">
              <a:buNone/>
            </a:pP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Создать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удобное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пространство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обмена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мнениями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где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каждый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может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найти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честные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отзывы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принять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решение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покупке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книги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просмотре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фильма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или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посещении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места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US" altLang="ru-RU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en-US" altLang="ru-RU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altLang="en-US" sz="5000">
                <a:latin typeface="Cambria" panose="02040503050406030204" pitchFamily="18" charset="0"/>
                <a:cs typeface="Cambria" panose="02040503050406030204" pitchFamily="18" charset="0"/>
              </a:rPr>
              <a:t>3) </a:t>
            </a:r>
            <a:r>
              <a:rPr lang="en-US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Целевая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аудитория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5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Книголюбы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библиофилы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Киноманы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сериалозависимые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Путешественники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исследователи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Люди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ценящие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честные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рекомендации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ru-RU" altLang="en-US" sz="5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4)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000" b="1">
                <a:latin typeface="Cambria" panose="02040503050406030204" pitchFamily="18" charset="0"/>
                <a:cs typeface="Cambria" panose="02040503050406030204" pitchFamily="18" charset="0"/>
              </a:rPr>
              <a:t>Уникальность</a:t>
            </a:r>
            <a:r>
              <a:rPr lang="en-US" altLang="ru-RU" sz="5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5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Простота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использования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Фокус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на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текстовых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отзывах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(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без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лишнего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шума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US" altLang="ru-RU" sz="4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/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Быстрая</a:t>
            </a:r>
            <a:r>
              <a:rPr lang="en-US" altLang="ru-RU" sz="4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4000">
                <a:latin typeface="Cambria" panose="02040503050406030204" pitchFamily="18" charset="0"/>
                <a:cs typeface="Cambria" panose="02040503050406030204" pitchFamily="18" charset="0"/>
              </a:rPr>
              <a:t>навигация</a:t>
            </a:r>
            <a:endParaRPr lang="en-US" altLang="en-US" sz="40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Проблематика</a:t>
            </a:r>
            <a:endParaRPr lang="ru-RU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ru-RU" altLang="en-US"/>
              <a:t>Проблема</a:t>
            </a:r>
            <a:endParaRPr lang="ru-RU" altLang="en-US"/>
          </a:p>
        </p:txBody>
      </p:sp>
      <p:sp>
        <p:nvSpPr>
          <p:cNvPr id="6" name="Замещающий текст 5"/>
          <p:cNvSpPr>
            <a:spLocks noGrp="1"/>
          </p:cNvSpPr>
          <p:nvPr>
            <p:ph type="body" sz="half" idx="3"/>
          </p:nvPr>
        </p:nvSpPr>
        <p:spPr/>
        <p:txBody>
          <a:bodyPr/>
          <a:p>
            <a:r>
              <a:rPr lang="ru-RU" altLang="en-US"/>
              <a:t>Решение</a:t>
            </a:r>
            <a:endParaRPr lang="ru-RU" altLang="en-US"/>
          </a:p>
        </p:txBody>
      </p:sp>
      <p:sp>
        <p:nvSpPr>
          <p:cNvPr id="7" name="Замещающее содержимое 6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 sz="2855" b="1">
                <a:latin typeface="Cambria" panose="02040503050406030204" pitchFamily="18" charset="0"/>
                <a:cs typeface="Cambria" panose="02040503050406030204" pitchFamily="18" charset="0"/>
              </a:rPr>
              <a:t>Проблема</a:t>
            </a:r>
            <a:r>
              <a:rPr lang="en-US" altLang="ru-RU" sz="2855" b="1">
                <a:latin typeface="Cambria" panose="02040503050406030204" pitchFamily="18" charset="0"/>
                <a:cs typeface="Cambria" panose="02040503050406030204" pitchFamily="18" charset="0"/>
              </a:rPr>
              <a:t> 1: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Информационный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шум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Отзывы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разбросаны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по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десяткам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сайтов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Сложно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найти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все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мнения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в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одном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месте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Много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рекламы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отвлекающих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факторов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855" b="1">
                <a:latin typeface="Cambria" panose="02040503050406030204" pitchFamily="18" charset="0"/>
                <a:cs typeface="Cambria" panose="02040503050406030204" pitchFamily="18" charset="0"/>
              </a:rPr>
              <a:t>Проблема</a:t>
            </a:r>
            <a:r>
              <a:rPr lang="en-US" altLang="ru-RU" sz="2855" b="1">
                <a:latin typeface="Cambria" panose="02040503050406030204" pitchFamily="18" charset="0"/>
                <a:cs typeface="Cambria" panose="02040503050406030204" pitchFamily="18" charset="0"/>
              </a:rPr>
              <a:t> 2:</a:t>
            </a:r>
            <a:r>
              <a:rPr lang="en-US" altLang="ru-RU" sz="285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Недостоверность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Заказные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отзывы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Отсутствие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проверки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пользователей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Невозможно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оценить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надёжность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источника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855" b="1">
                <a:latin typeface="Cambria" panose="02040503050406030204" pitchFamily="18" charset="0"/>
                <a:cs typeface="Cambria" panose="02040503050406030204" pitchFamily="18" charset="0"/>
              </a:rPr>
              <a:t>Проблема</a:t>
            </a:r>
            <a:r>
              <a:rPr lang="en-US" altLang="ru-RU" sz="2855" b="1">
                <a:latin typeface="Cambria" panose="02040503050406030204" pitchFamily="18" charset="0"/>
                <a:cs typeface="Cambria" panose="02040503050406030204" pitchFamily="18" charset="0"/>
              </a:rPr>
              <a:t> 3: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Неудобство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Сложные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интерфейсы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Долгая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регистрация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Невозможно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быстро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найти</a:t>
            </a:r>
            <a:r>
              <a:rPr lang="en-US" altLang="ru-RU" sz="2285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85">
                <a:latin typeface="Cambria" panose="02040503050406030204" pitchFamily="18" charset="0"/>
                <a:cs typeface="Cambria" panose="02040503050406030204" pitchFamily="18" charset="0"/>
              </a:rPr>
              <a:t>нужное</a:t>
            </a:r>
            <a:endParaRPr lang="en-US" alt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Замещающее содержимое 7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410654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ru-RU" sz="178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20" b="1">
                <a:latin typeface="Cambria" panose="02040503050406030204" pitchFamily="18" charset="0"/>
                <a:cs typeface="Cambria" panose="02040503050406030204" pitchFamily="18" charset="0"/>
              </a:rPr>
              <a:t>Наше</a:t>
            </a: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20" b="1">
                <a:latin typeface="Cambria" panose="02040503050406030204" pitchFamily="18" charset="0"/>
                <a:cs typeface="Cambria" panose="02040503050406030204" pitchFamily="18" charset="0"/>
              </a:rPr>
              <a:t>решение</a:t>
            </a: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178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Единая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платформа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всех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типов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контента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Структурированная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подача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информации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Минималистичный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дизайн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220" b="1">
                <a:latin typeface="Cambria" panose="02040503050406030204" pitchFamily="18" charset="0"/>
                <a:cs typeface="Cambria" panose="02040503050406030204" pitchFamily="18" charset="0"/>
              </a:rPr>
              <a:t>Наше</a:t>
            </a: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20" b="1">
                <a:latin typeface="Cambria" panose="02040503050406030204" pitchFamily="18" charset="0"/>
                <a:cs typeface="Cambria" panose="02040503050406030204" pitchFamily="18" charset="0"/>
              </a:rPr>
              <a:t>решение</a:t>
            </a: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222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Простая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регистрация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Профили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пользователей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с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историей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Прозрачная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система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отзывов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20" b="1">
                <a:latin typeface="Cambria" panose="02040503050406030204" pitchFamily="18" charset="0"/>
                <a:cs typeface="Cambria" panose="02040503050406030204" pitchFamily="18" charset="0"/>
              </a:rPr>
              <a:t>Наше</a:t>
            </a: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220" b="1">
                <a:latin typeface="Cambria" panose="02040503050406030204" pitchFamily="18" charset="0"/>
                <a:cs typeface="Cambria" panose="02040503050406030204" pitchFamily="18" charset="0"/>
              </a:rPr>
              <a:t>решение</a:t>
            </a:r>
            <a:r>
              <a:rPr lang="en-US" altLang="ru-RU" sz="222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222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Быстрый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поиск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по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категориям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Удобная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навигация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Адаптивный</a:t>
            </a:r>
            <a:r>
              <a:rPr lang="en-US" altLang="ru-RU" sz="178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780">
                <a:latin typeface="Cambria" panose="02040503050406030204" pitchFamily="18" charset="0"/>
                <a:cs typeface="Cambria" panose="02040503050406030204" pitchFamily="18" charset="0"/>
              </a:rPr>
              <a:t>интерфейс</a:t>
            </a:r>
            <a:endParaRPr lang="en-US" altLang="en-US" sz="178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Основной функционал</a:t>
            </a:r>
            <a:endParaRPr lang="ru-RU" altLang="en-US"/>
          </a:p>
        </p:txBody>
      </p:sp>
      <p:sp>
        <p:nvSpPr>
          <p:cNvPr id="7" name="Замещающее содержимое 6"/>
          <p:cNvSpPr>
            <a:spLocks noGrp="1"/>
          </p:cNvSpPr>
          <p:nvPr>
            <p:ph idx="1"/>
          </p:nvPr>
        </p:nvSpPr>
        <p:spPr>
          <a:xfrm>
            <a:off x="457200" y="1645920"/>
            <a:ext cx="4758055" cy="49320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Гостевой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доступ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 (</a:t>
            </a:r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без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регистрации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):</a:t>
            </a:r>
            <a:endParaRPr lang="en-US" altLang="ru-RU" sz="2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16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 b="1">
                <a:latin typeface="Cambria" panose="02040503050406030204" pitchFamily="18" charset="0"/>
                <a:cs typeface="Cambria" panose="02040503050406030204" pitchFamily="18" charset="0"/>
              </a:rPr>
              <a:t>Просмотр</a:t>
            </a:r>
            <a:r>
              <a:rPr lang="en-US" altLang="ru-RU" sz="16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 b="1">
                <a:latin typeface="Cambria" panose="02040503050406030204" pitchFamily="18" charset="0"/>
                <a:cs typeface="Cambria" panose="02040503050406030204" pitchFamily="18" charset="0"/>
              </a:rPr>
              <a:t>контента</a:t>
            </a:r>
            <a:r>
              <a:rPr lang="en-US" altLang="ru-RU" sz="16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16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Чтение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всех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опубликованных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отзывов</a:t>
            </a: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Просмотр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рейтингов</a:t>
            </a: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Навигация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по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категориям</a:t>
            </a: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Зарегистрированные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пользователи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2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ambria" panose="02040503050406030204" pitchFamily="18" charset="0"/>
                <a:cs typeface="Cambria" panose="02040503050406030204" pitchFamily="18" charset="0"/>
              </a:rPr>
              <a:t>Авторизация</a:t>
            </a:r>
            <a:r>
              <a:rPr lang="en-US" altLang="ru-RU" sz="16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16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Регистрация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с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валидацией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email</a:t>
            </a:r>
            <a:endParaRPr lang="en-US" altLang="ru-RU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Безопасный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вход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(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хеширование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паролей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US" altLang="ru-RU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Личный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кабинет</a:t>
            </a: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 b="1">
                <a:latin typeface="Cambria" panose="02040503050406030204" pitchFamily="18" charset="0"/>
                <a:cs typeface="Cambria" panose="02040503050406030204" pitchFamily="18" charset="0"/>
              </a:rPr>
              <a:t>Создание</a:t>
            </a:r>
            <a:r>
              <a:rPr lang="en-US" altLang="ru-RU" sz="16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 b="1">
                <a:latin typeface="Cambria" panose="02040503050406030204" pitchFamily="18" charset="0"/>
                <a:cs typeface="Cambria" panose="02040503050406030204" pitchFamily="18" charset="0"/>
              </a:rPr>
              <a:t>контента</a:t>
            </a:r>
            <a:r>
              <a:rPr lang="en-US" altLang="ru-RU" sz="16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Публикация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отзывов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(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книги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/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фильмы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/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места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US" altLang="ru-RU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Добавление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оценок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(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рейтинг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1-10)</a:t>
            </a:r>
            <a:endParaRPr lang="en-US" altLang="ru-RU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Категория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теги</a:t>
            </a: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Дата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публикации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автоматически</a:t>
            </a:r>
            <a:endParaRPr lang="en-US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ru-RU" sz="16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5147945" y="3717290"/>
            <a:ext cx="3973195" cy="2711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en-US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Управление</a:t>
            </a:r>
            <a:r>
              <a:rPr lang="en-US" altLang="ru-RU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:</a:t>
            </a:r>
            <a:endParaRPr lang="en-US" altLang="ru-RU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Редактирование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своих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отзывов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Удаление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публикаций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История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активности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в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профиле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Профиль</a:t>
            </a:r>
            <a:r>
              <a:rPr lang="en-US" altLang="ru-RU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пользователя</a:t>
            </a:r>
            <a:r>
              <a:rPr lang="en-US" altLang="ru-RU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:</a:t>
            </a:r>
            <a:endParaRPr lang="en-US" altLang="ru-RU" b="1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Информация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о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пользователе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Список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всех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отзывов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Статистика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количество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публикаций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)</a:t>
            </a:r>
            <a:endParaRPr lang="en-US" altLang="ru-RU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Технологический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стек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Замещающее содержимое 7"/>
          <p:cNvSpPr>
            <a:spLocks noGrp="1"/>
          </p:cNvSpPr>
          <p:nvPr>
            <p:ph idx="1"/>
          </p:nvPr>
        </p:nvSpPr>
        <p:spPr>
          <a:xfrm>
            <a:off x="76200" y="1645920"/>
            <a:ext cx="8799830" cy="4526280"/>
          </a:xfrm>
        </p:spPr>
        <p:txBody>
          <a:bodyPr>
            <a:normAutofit fontScale="25000"/>
          </a:bodyPr>
          <a:p>
            <a:pPr marL="0" indent="0" algn="ctr">
              <a:buNone/>
            </a:pP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Backend (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серверная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часть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):</a:t>
            </a:r>
            <a:endParaRPr lang="en-US" altLang="ru-RU" sz="8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Python 3.12:</a:t>
            </a:r>
            <a:r>
              <a:rPr lang="en-US" altLang="ru-RU" sz="64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Современный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быстрый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надёжный,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б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огатая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экосистема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библиотек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Flask: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Лёгкий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гибкий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веб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фреймворк,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м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одульная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архитектура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(Blueprints),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п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ростота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расширения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SQLAlchemy: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Мощная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ORM,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р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абота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с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БД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на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уровне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объектов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 SQLite:</a:t>
            </a:r>
            <a:r>
              <a:rPr lang="en-US" altLang="ru-RU" sz="64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Лёгковесная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БД,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н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е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требует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отдельного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сервера,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деально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небольших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проектов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Frontend (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клиентская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часть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):</a:t>
            </a:r>
            <a:endParaRPr lang="en-US" altLang="ru-RU" sz="8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6400" b="1">
                <a:latin typeface="Cambria" panose="02040503050406030204" pitchFamily="18" charset="0"/>
                <a:cs typeface="Cambria" panose="02040503050406030204" pitchFamily="18" charset="0"/>
              </a:rPr>
              <a:t>HTML5 + CSS: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Семантическая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вёрстка,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а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даптивный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дизайн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Jinja2: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Шаблонизатор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Flask,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н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аследование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шаблонов, </a:t>
            </a:r>
            <a:r>
              <a:rPr lang="ru-RU" altLang="en-US" sz="6400">
                <a:latin typeface="Cambria" panose="02040503050406030204" pitchFamily="18" charset="0"/>
                <a:cs typeface="Cambria" panose="02040503050406030204" pitchFamily="18" charset="0"/>
              </a:rPr>
              <a:t>д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инамический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контент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 Bootstrap (</a:t>
            </a:r>
            <a:r>
              <a:rPr lang="en-US" altLang="en-US" sz="7200" b="1">
                <a:latin typeface="Cambria" panose="02040503050406030204" pitchFamily="18" charset="0"/>
                <a:cs typeface="Cambria" panose="02040503050406030204" pitchFamily="18" charset="0"/>
              </a:rPr>
              <a:t>опционально</a:t>
            </a: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) :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Готовые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компоненты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Инструменты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разработки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8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 Git + GitHub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—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контроль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версий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 PyCharm 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—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мощная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IDE</a:t>
            </a:r>
            <a:endParaRPr lang="en-US" altLang="ru-RU" sz="6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7200" b="1">
                <a:latin typeface="Cambria" panose="02040503050406030204" pitchFamily="18" charset="0"/>
                <a:cs typeface="Cambria" panose="02040503050406030204" pitchFamily="18" charset="0"/>
              </a:rPr>
              <a:t> pip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—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управление</a:t>
            </a:r>
            <a:r>
              <a:rPr lang="en-US" altLang="ru-RU" sz="6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6400">
                <a:latin typeface="Cambria" panose="02040503050406030204" pitchFamily="18" charset="0"/>
                <a:cs typeface="Cambria" panose="02040503050406030204" pitchFamily="18" charset="0"/>
              </a:rPr>
              <a:t>зависимостями</a:t>
            </a:r>
            <a:endParaRPr lang="en-US" altLang="en-US" sz="64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Архитектура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проекта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7" name="Замещающее содержимое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ru-RU" sz="5400"/>
              <a:t># </a:t>
            </a:r>
            <a:r>
              <a:rPr lang="ru-RU" altLang="ru-RU" sz="5400"/>
              <a:t>тут будет фото всей структуры детально</a:t>
            </a:r>
            <a:endParaRPr lang="ru-RU" altLang="ru-RU" sz="5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База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данных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39115" y="1396365"/>
            <a:ext cx="790829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latin typeface="Cambria" panose="02040503050406030204" pitchFamily="18" charset="0"/>
                <a:cs typeface="Cambria" panose="02040503050406030204" pitchFamily="18" charset="0"/>
              </a:rPr>
              <a:t>СУБД</a:t>
            </a:r>
            <a:r>
              <a:rPr lang="en-US" altLang="ru-RU" sz="2000" b="1">
                <a:latin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SQLite (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лёгкая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1600">
                <a:latin typeface="Cambria" panose="02040503050406030204" pitchFamily="18" charset="0"/>
                <a:cs typeface="Cambria" panose="02040503050406030204" pitchFamily="18" charset="0"/>
              </a:rPr>
              <a:t>файловая</a:t>
            </a:r>
            <a:r>
              <a:rPr lang="en-US" altLang="ru-RU" sz="1600">
                <a:latin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ru-RU" altLang="en-US" sz="16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" y="1772920"/>
            <a:ext cx="5140325" cy="2713990"/>
          </a:xfrm>
          <a:prstGeom prst="rect">
            <a:avLst/>
          </a:prstGeom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4580890"/>
            <a:ext cx="5154930" cy="1951990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755" y="5445125"/>
            <a:ext cx="2799080" cy="1093470"/>
          </a:xfrm>
          <a:prstGeom prst="rect">
            <a:avLst/>
          </a:prstGeom>
        </p:spPr>
      </p:pic>
      <p:sp>
        <p:nvSpPr>
          <p:cNvPr id="14" name="Текстовое поле 13"/>
          <p:cNvSpPr txBox="1"/>
          <p:nvPr/>
        </p:nvSpPr>
        <p:spPr>
          <a:xfrm>
            <a:off x="5507990" y="1772920"/>
            <a:ext cx="3432810" cy="310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 b="1">
                <a:latin typeface="Cambria" panose="02040503050406030204" pitchFamily="18" charset="0"/>
                <a:cs typeface="Cambria" panose="02040503050406030204" pitchFamily="18" charset="0"/>
              </a:rPr>
              <a:t>Связи</a:t>
            </a:r>
            <a:r>
              <a:rPr lang="en-US" altLang="ru-RU" sz="14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14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400" b="1">
                <a:latin typeface="Cambria" panose="02040503050406030204" pitchFamily="18" charset="0"/>
                <a:cs typeface="Cambria" panose="02040503050406030204" pitchFamily="18" charset="0"/>
              </a:rPr>
              <a:t>Один</a:t>
            </a:r>
            <a:r>
              <a:rPr lang="en-US" altLang="ru-RU" sz="14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 b="1">
                <a:latin typeface="Cambria" panose="02040503050406030204" pitchFamily="18" charset="0"/>
                <a:cs typeface="Cambria" panose="02040503050406030204" pitchFamily="18" charset="0"/>
              </a:rPr>
              <a:t>ко</a:t>
            </a:r>
            <a:r>
              <a:rPr lang="en-US" altLang="ru-RU" sz="14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 b="1">
                <a:latin typeface="Cambria" panose="02040503050406030204" pitchFamily="18" charset="0"/>
                <a:cs typeface="Cambria" panose="02040503050406030204" pitchFamily="18" charset="0"/>
              </a:rPr>
              <a:t>многим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Один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пользователь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-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много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отзывов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ru-RU" sz="1400" b="1">
                <a:latin typeface="Cambria" panose="02040503050406030204" pitchFamily="18" charset="0"/>
                <a:cs typeface="Cambria" panose="02040503050406030204" pitchFamily="18" charset="0"/>
              </a:rPr>
              <a:t>Cascade delete: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При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удалении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пользователя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удаляются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его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отзывы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1400" b="1">
                <a:latin typeface="Cambria" panose="02040503050406030204" pitchFamily="18" charset="0"/>
                <a:cs typeface="Cambria" panose="02040503050406030204" pitchFamily="18" charset="0"/>
              </a:rPr>
              <a:t>Особенности</a:t>
            </a:r>
            <a:r>
              <a:rPr lang="en-US" altLang="ru-RU" sz="14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14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Хеширование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паролей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безопасности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Автоматическая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простановка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дат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Индексы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быстрого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поиска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по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email</a:t>
            </a:r>
            <a:endParaRPr lang="en-US" altLang="ru-RU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Внешние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ключи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(Foreign Keys)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целостности</a:t>
            </a:r>
            <a:r>
              <a:rPr lang="en-US" altLang="ru-RU" sz="1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данных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Ключевые особенности реализации</a:t>
            </a:r>
            <a:endParaRPr lang="ru-RU" altLang="en-US" b="1"/>
          </a:p>
        </p:txBody>
      </p:sp>
      <p:sp>
        <p:nvSpPr>
          <p:cNvPr id="8" name="Замещающее содержимое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Отдельный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модуль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работы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с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БД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Единая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точка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подключения,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 п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ереиспользование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кода,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 п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ростота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изменения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БД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ru-RU" altLang="en-US" sz="2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2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Безопасность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данных(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Пароли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не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хранятся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в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открытом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виде, 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SECRET_KEY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сессий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Flask )</a:t>
            </a:r>
            <a:endParaRPr lang="en-US" altLang="ru-RU" sz="2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ru-RU" sz="2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Сессии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на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один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запрос(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Нет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утечек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памяти, 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а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втоматическая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очистка, 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б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езопасность)</a:t>
            </a:r>
            <a:endParaRPr lang="en-US" altLang="en-US" sz="2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2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Шаблонизация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Jinja2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Переиспользование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кода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д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инамический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контент,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 ч</a:t>
            </a:r>
            <a:r>
              <a:rPr lang="en-US" altLang="en-US" sz="2400">
                <a:latin typeface="Cambria" panose="02040503050406030204" pitchFamily="18" charset="0"/>
                <a:cs typeface="Cambria" panose="02040503050406030204" pitchFamily="18" charset="0"/>
              </a:rPr>
              <a:t>истый</a:t>
            </a:r>
            <a:r>
              <a:rPr lang="en-US" altLang="ru-RU" sz="2400">
                <a:latin typeface="Cambria" panose="02040503050406030204" pitchFamily="18" charset="0"/>
                <a:cs typeface="Cambria" panose="02040503050406030204" pitchFamily="18" charset="0"/>
              </a:rPr>
              <a:t> HTML</a:t>
            </a:r>
            <a:r>
              <a:rPr lang="ru-RU" altLang="en-US" sz="2400">
                <a:latin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ru-RU" altLang="en-US" sz="24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365"/>
            <a:ext cx="8229600" cy="952500"/>
          </a:xfrm>
        </p:spPr>
        <p:txBody>
          <a:bodyPr>
            <a:normAutofit/>
          </a:bodyPr>
          <a:p>
            <a:pPr algn="ctr"/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Демонстрация</a:t>
            </a:r>
            <a:r>
              <a:rPr lang="en-US" altLang="ru-RU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>
                <a:latin typeface="Cambria" panose="02040503050406030204" pitchFamily="18" charset="0"/>
                <a:cs typeface="Cambria" panose="02040503050406030204" pitchFamily="18" charset="0"/>
              </a:rPr>
              <a:t>интерфейса</a:t>
            </a:r>
            <a:endParaRPr lang="en-US" altLang="en-US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070" y="1340485"/>
            <a:ext cx="4471035" cy="242443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1369695"/>
            <a:ext cx="4196080" cy="239522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1547495" y="1001395"/>
            <a:ext cx="676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b="1"/>
              <a:t>Вход                                                            регистрация</a:t>
            </a:r>
            <a:endParaRPr lang="ru-RU" altLang="en-US" b="1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71450" y="4175125"/>
            <a:ext cx="8720455" cy="1119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000"/>
              <a:t># </a:t>
            </a:r>
            <a:r>
              <a:rPr lang="ru-RU" altLang="en-US" sz="4000"/>
              <a:t>тут будут скрины меню профиля, главной и создания отзыва</a:t>
            </a:r>
            <a:endParaRPr lang="ru-RU" altLang="en-US"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ru-RU"/>
              <a:t> </a:t>
            </a:r>
            <a:r>
              <a:rPr lang="en-US" altLang="en-US"/>
              <a:t>Заключение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251460" y="1396682"/>
            <a:ext cx="8229600" cy="452628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1.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Цель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достигнута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8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Разработано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полнофункциональное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веб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приложение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“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Приятный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досуг”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соответствующее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техническому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заданию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.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Реализованы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все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ключевые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модули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авторизация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управление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контентом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(CRUD),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профили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пользователей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US" altLang="ru-RU" sz="5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ru-RU" sz="5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2.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Технологическая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обоснованность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8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Выбранный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стек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(Python + Flask + SQLAlchemy + SQLite)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доказал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свою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эффективность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задач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малого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среднего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масштаба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.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Использование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ORM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позволило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абстрагироваться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от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SQL-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запросов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и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ускорить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разработку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моделей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данных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US" altLang="ru-RU" sz="5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ru-RU" sz="5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3.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Практическая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8000" b="1">
                <a:latin typeface="Cambria" panose="02040503050406030204" pitchFamily="18" charset="0"/>
                <a:cs typeface="Cambria" panose="02040503050406030204" pitchFamily="18" charset="0"/>
              </a:rPr>
              <a:t>значимость</a:t>
            </a:r>
            <a:r>
              <a:rPr lang="en-US" altLang="ru-RU" sz="8000" b="1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ru-RU" sz="80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Приложение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готово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к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использованию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.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Оно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решает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проблему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разрозненности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отзывов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предоставляя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единую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удобную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платформу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для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US" sz="5600">
                <a:latin typeface="Cambria" panose="02040503050406030204" pitchFamily="18" charset="0"/>
                <a:cs typeface="Cambria" panose="02040503050406030204" pitchFamily="18" charset="0"/>
              </a:rPr>
              <a:t>пользователей</a:t>
            </a:r>
            <a:r>
              <a:rPr lang="en-US" altLang="ru-RU" sz="5600">
                <a:latin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US" altLang="ru-RU" sz="56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4653280"/>
            <a:ext cx="2517140" cy="195770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4653280"/>
            <a:ext cx="2642235" cy="198501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Литейная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0</TotalTime>
  <Words>4393</Words>
  <Application>WPS Presentation</Application>
  <PresentationFormat>Экран (4:3)</PresentationFormat>
  <Paragraphs>171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Wingdings 2</vt:lpstr>
      <vt:lpstr>Cambria</vt:lpstr>
      <vt:lpstr>Rockwell</vt:lpstr>
      <vt:lpstr>Microsoft YaHei</vt:lpstr>
      <vt:lpstr>Arial Unicode MS</vt:lpstr>
      <vt:lpstr>Calibri</vt:lpstr>
      <vt:lpstr>方正姚体</vt:lpstr>
      <vt:lpstr>Liberation Mono</vt:lpstr>
      <vt:lpstr>Book Antiqua</vt:lpstr>
      <vt:lpstr>Calibri Light</vt:lpstr>
      <vt:lpstr>Литейная</vt:lpstr>
      <vt:lpstr>Flask-проект: “Приятный досуг” </vt:lpstr>
      <vt:lpstr>Содержание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Proger</dc:creator>
  <cp:lastModifiedBy>Агрессивная печ�</cp:lastModifiedBy>
  <cp:revision>11</cp:revision>
  <dcterms:created xsi:type="dcterms:W3CDTF">2026-04-23T21:35:00Z</dcterms:created>
  <dcterms:modified xsi:type="dcterms:W3CDTF">2026-04-24T21:15:44Z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438ED6484742438787CCC701A4D08A68_12</vt:lpwstr>
  </property>
  <property fmtid="{D5CDD505-2E9C-101B-9397-08002B2CF9AE}" pid="3" name="KSOProductBuildVer">
    <vt:lpwstr>1049-12.2.0.23196</vt:lpwstr>
  </property>
</Properties>
</file>